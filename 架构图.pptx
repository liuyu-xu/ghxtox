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>
        <p:scale>
          <a:sx n="100" d="100"/>
          <a:sy n="100" d="100"/>
        </p:scale>
        <p:origin x="183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4DBEF-C282-C540-5C5C-7B48565FD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DA8525-2030-173F-2028-4FFB59E29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1F800-1829-AA21-7F41-133E07EC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51D386-9A0C-2021-0EE2-1B5EBED4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33FD9-B6FD-DAB1-FEAB-4BF61A4C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43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E47E3-2AFD-94BD-B77C-15A9620B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BB688-4F0F-B000-204D-850E3CAF8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280948-5D81-C157-9F2C-D0392DC6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0F3CF-5B3C-A394-47AA-957971FA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69EC-9F81-D12C-C0CE-368F6CF7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08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D9950-0A20-E8CE-1130-491EBB39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CEB7C4-1323-FC25-2EF8-0494144A3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510C8-3F55-08BE-41E8-98C55FE2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C81A07-96FD-2F0F-4F3C-9AAFAFDF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8584D2-932B-2E2F-905B-DCE11B86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6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E447C-5D28-86FE-7F03-783FCFA4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53205-9EB4-62C2-01A8-FA5B04A83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DF7532-0264-0127-37FE-E3CCF5DBF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9D424E-4496-E662-C9D9-DFB871E7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400989-ED78-2EB8-BDC3-42C0A655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AE663E-EF2A-21C7-9F8B-44959F9D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66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C97F5-17E4-6976-23B5-5EBBA11C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7A1BD1-0623-004D-469C-864640011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55F541-69DA-A106-B84F-6D2DD6102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AFF6C6-A30F-C3CA-6678-03188F7FD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C12B29-B7B3-6247-E78C-A322C7340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148202-F03D-FEA7-EB81-11E13C94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8D3FBE-CD30-81AC-2474-1A02D8A6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2A2C1B-0BA1-CBCD-3290-F82BACD8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83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DBB6A-D407-4B40-A4C0-7F70C1FE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B3D0E2-F101-B3C0-D4F5-5CA916C5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99D8CF-55E7-AC48-9794-515FE916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EA96C2-338F-3C53-6214-B375B8A8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0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926D57-2751-D8CC-6F2A-4BE3EAC5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0BC88C-A1E2-58AB-ADA1-0ED2C3D5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4D5752-0673-A8DF-212E-E01735EE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767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0A54B-4DA5-52A3-C502-CC1FAFB2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6DE646-6EA9-46F4-8517-9497A8C2D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4AFB9D-7A2A-3A68-9DF1-DB1E06D93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085BF4-DC93-5602-E432-47690F1E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8C962-358D-7DF7-EC91-9117BC98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4FE59-3E9B-EC7D-CF62-07AFC96F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13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1C3DC-B494-250F-DA81-FAEDA03B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0FD6A3-B2F1-1957-08AB-7FE4CAF49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2D7FA8-3EF4-7582-70B2-A3E080A5C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A17AB4-DF8F-D90F-9FF6-857D9F0A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08F85F-737F-A8D9-E03F-01149E75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5807E0-FD7B-684D-3F54-8A06D281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CD65D-8243-944F-F8EC-356C2D3E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653874-4603-F24E-44C2-3DEACBD2D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90431D-E17C-D048-50FE-A17EC489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2DF8A9-1FF3-07B8-1810-38DF7867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9D491-01F3-500D-62B5-5BAB1D57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00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37C9BA-4BB6-5974-8D07-AEB398A81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EA44F7-FDE6-F933-99AF-543B77EB9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A93CC-4814-152A-AA55-29BEDDCC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D5755-4746-CEF5-A275-9CFE41AD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B3DE9-B6AC-2DF0-E2C3-75D40B6D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25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DE9833-5E49-C2B8-B663-EBA6C478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A5B3D8-E576-0E57-5AD6-A0E3D44CD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45684D-194A-C67D-5DE4-C968FEE71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62C4D-D056-4B4F-8CEF-42E495CFF63F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781D1-9A72-0E82-C349-A9C03394E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82B81B-519B-AEDD-C9A7-86F17A601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BA094-DAD7-46D1-9486-BA91925E95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3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矩形: 圆角 1053">
            <a:extLst>
              <a:ext uri="{FF2B5EF4-FFF2-40B4-BE49-F238E27FC236}">
                <a16:creationId xmlns:a16="http://schemas.microsoft.com/office/drawing/2014/main" id="{186A5A6F-85D5-3940-A36A-0D3CD0446E1F}"/>
              </a:ext>
            </a:extLst>
          </p:cNvPr>
          <p:cNvSpPr/>
          <p:nvPr/>
        </p:nvSpPr>
        <p:spPr>
          <a:xfrm>
            <a:off x="470270" y="1203539"/>
            <a:ext cx="11438414" cy="5105474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7000">
                <a:schemeClr val="bg1">
                  <a:lumMod val="95000"/>
                </a:schemeClr>
              </a:gs>
              <a:gs pos="68000">
                <a:schemeClr val="bg1">
                  <a:lumMod val="9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0C0542B-1048-CD24-F43B-6F3C9C5B8422}"/>
              </a:ext>
            </a:extLst>
          </p:cNvPr>
          <p:cNvGrpSpPr/>
          <p:nvPr/>
        </p:nvGrpSpPr>
        <p:grpSpPr>
          <a:xfrm>
            <a:off x="1584232" y="3718454"/>
            <a:ext cx="6631251" cy="2388681"/>
            <a:chOff x="1130486" y="932794"/>
            <a:chExt cx="9829602" cy="249589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214C46A7-E5FA-37A8-80D9-5D0DA47C1D83}"/>
                </a:ext>
              </a:extLst>
            </p:cNvPr>
            <p:cNvSpPr/>
            <p:nvPr/>
          </p:nvSpPr>
          <p:spPr>
            <a:xfrm>
              <a:off x="1140838" y="951599"/>
              <a:ext cx="9819250" cy="247708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0000">
                  <a:schemeClr val="accent2">
                    <a:lumMod val="45000"/>
                    <a:lumOff val="55000"/>
                  </a:schemeClr>
                </a:gs>
                <a:gs pos="86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rgbClr val="000000"/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DF1C5063-0C73-8566-B496-7237AF66D700}"/>
                </a:ext>
              </a:extLst>
            </p:cNvPr>
            <p:cNvSpPr/>
            <p:nvPr/>
          </p:nvSpPr>
          <p:spPr>
            <a:xfrm>
              <a:off x="1130486" y="932794"/>
              <a:ext cx="3579183" cy="331888"/>
            </a:xfrm>
            <a:custGeom>
              <a:avLst/>
              <a:gdLst>
                <a:gd name="connsiteX0" fmla="*/ 442878 w 3579183"/>
                <a:gd name="connsiteY0" fmla="*/ 0 h 412652"/>
                <a:gd name="connsiteX1" fmla="*/ 3579183 w 3579183"/>
                <a:gd name="connsiteY1" fmla="*/ 0 h 412652"/>
                <a:gd name="connsiteX2" fmla="*/ 3476020 w 3579183"/>
                <a:gd name="connsiteY2" fmla="*/ 412652 h 412652"/>
                <a:gd name="connsiteX3" fmla="*/ 0 w 3579183"/>
                <a:gd name="connsiteY3" fmla="*/ 412652 h 412652"/>
                <a:gd name="connsiteX4" fmla="*/ 5678 w 3579183"/>
                <a:gd name="connsiteY4" fmla="*/ 356329 h 412652"/>
                <a:gd name="connsiteX5" fmla="*/ 442878 w 3579183"/>
                <a:gd name="connsiteY5" fmla="*/ 0 h 41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9183" h="412652">
                  <a:moveTo>
                    <a:pt x="442878" y="0"/>
                  </a:moveTo>
                  <a:lnTo>
                    <a:pt x="3579183" y="0"/>
                  </a:lnTo>
                  <a:lnTo>
                    <a:pt x="3476020" y="412652"/>
                  </a:lnTo>
                  <a:lnTo>
                    <a:pt x="0" y="412652"/>
                  </a:lnTo>
                  <a:lnTo>
                    <a:pt x="5678" y="356329"/>
                  </a:lnTo>
                  <a:cubicBezTo>
                    <a:pt x="47291" y="152973"/>
                    <a:pt x="227220" y="0"/>
                    <a:pt x="442878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  <a:r>
                <a:rPr lang="en-US" altLang="zh-CN">
                  <a:solidFill>
                    <a:schemeClr val="bg1"/>
                  </a:solidFill>
                </a:rPr>
                <a:t> </a:t>
              </a:r>
              <a:r>
                <a:rPr lang="en-US" altLang="zh-CN" sz="120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dimensional</a:t>
              </a:r>
              <a:r>
                <a:rPr lang="en-US" altLang="zh-CN">
                  <a:solidFill>
                    <a:schemeClr val="bg1"/>
                  </a:solidFill>
                </a:rPr>
                <a:t> </a:t>
              </a:r>
              <a:r>
                <a:rPr lang="en-US" altLang="zh-CN" sz="120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substructure</a:t>
              </a:r>
              <a:endParaRPr lang="zh-CN" altLang="en-US" sz="1200">
                <a:solidFill>
                  <a:schemeClr val="bg1"/>
                </a:solidFill>
                <a:latin typeface="Cambria" panose="02040503050406030204" pitchFamily="18" charset="0"/>
              </a:endParaRPr>
            </a:p>
          </p:txBody>
        </p:sp>
      </p:grp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C8CE9B7-ACC1-EA02-5A65-CC03AD585B40}"/>
              </a:ext>
            </a:extLst>
          </p:cNvPr>
          <p:cNvSpPr/>
          <p:nvPr/>
        </p:nvSpPr>
        <p:spPr>
          <a:xfrm>
            <a:off x="3553268" y="4052264"/>
            <a:ext cx="2168409" cy="1767072"/>
          </a:xfrm>
          <a:prstGeom prst="roundRect">
            <a:avLst>
              <a:gd name="adj" fmla="val 908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4D77AA7-7D21-04FD-56E2-B1F433DB4BDD}"/>
              </a:ext>
            </a:extLst>
          </p:cNvPr>
          <p:cNvGrpSpPr/>
          <p:nvPr/>
        </p:nvGrpSpPr>
        <p:grpSpPr>
          <a:xfrm>
            <a:off x="1596774" y="1337367"/>
            <a:ext cx="6657208" cy="2286089"/>
            <a:chOff x="1161630" y="951914"/>
            <a:chExt cx="9868740" cy="2494985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7CE87EF3-1D61-83B5-92FC-F2378FE71E4A}"/>
                </a:ext>
              </a:extLst>
            </p:cNvPr>
            <p:cNvSpPr/>
            <p:nvPr/>
          </p:nvSpPr>
          <p:spPr>
            <a:xfrm>
              <a:off x="1211121" y="969813"/>
              <a:ext cx="9819249" cy="2477086"/>
            </a:xfrm>
            <a:prstGeom prst="roundRect">
              <a:avLst/>
            </a:prstGeom>
            <a:gradFill flip="none" rotWithShape="1">
              <a:gsLst>
                <a:gs pos="2000">
                  <a:srgbClr val="E8F8FE">
                    <a:alpha val="99000"/>
                  </a:srgbClr>
                </a:gs>
                <a:gs pos="17088">
                  <a:srgbClr val="DAF3FD"/>
                </a:gs>
                <a:gs pos="34175">
                  <a:srgbClr val="C1EBFB"/>
                </a:gs>
                <a:gs pos="42772">
                  <a:srgbClr val="B5E7FA"/>
                </a:gs>
                <a:gs pos="3631">
                  <a:srgbClr val="EDFAFE"/>
                </a:gs>
                <a:gs pos="0">
                  <a:schemeClr val="accent4">
                    <a:lumMod val="5000"/>
                    <a:lumOff val="95000"/>
                  </a:schemeClr>
                </a:gs>
                <a:gs pos="63664">
                  <a:srgbClr val="97DDF8"/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10800000" scaled="0"/>
              <a:tileRect/>
            </a:gradFill>
            <a:ln>
              <a:gradFill>
                <a:gsLst>
                  <a:gs pos="0">
                    <a:schemeClr val="bg2">
                      <a:lumMod val="9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50800" dist="50800" dir="5400000" algn="ctr" rotWithShape="0">
                <a:srgbClr val="000000"/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D2229006-0BAA-E200-9F85-3031B359CF55}"/>
                </a:ext>
              </a:extLst>
            </p:cNvPr>
            <p:cNvSpPr/>
            <p:nvPr/>
          </p:nvSpPr>
          <p:spPr>
            <a:xfrm>
              <a:off x="1161630" y="951914"/>
              <a:ext cx="3579182" cy="375788"/>
            </a:xfrm>
            <a:custGeom>
              <a:avLst/>
              <a:gdLst>
                <a:gd name="connsiteX0" fmla="*/ 442878 w 3579183"/>
                <a:gd name="connsiteY0" fmla="*/ 0 h 412652"/>
                <a:gd name="connsiteX1" fmla="*/ 3579183 w 3579183"/>
                <a:gd name="connsiteY1" fmla="*/ 0 h 412652"/>
                <a:gd name="connsiteX2" fmla="*/ 3476020 w 3579183"/>
                <a:gd name="connsiteY2" fmla="*/ 412652 h 412652"/>
                <a:gd name="connsiteX3" fmla="*/ 0 w 3579183"/>
                <a:gd name="connsiteY3" fmla="*/ 412652 h 412652"/>
                <a:gd name="connsiteX4" fmla="*/ 5678 w 3579183"/>
                <a:gd name="connsiteY4" fmla="*/ 356329 h 412652"/>
                <a:gd name="connsiteX5" fmla="*/ 442878 w 3579183"/>
                <a:gd name="connsiteY5" fmla="*/ 0 h 41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9183" h="412652">
                  <a:moveTo>
                    <a:pt x="442878" y="0"/>
                  </a:moveTo>
                  <a:lnTo>
                    <a:pt x="3579183" y="0"/>
                  </a:lnTo>
                  <a:lnTo>
                    <a:pt x="3476020" y="412652"/>
                  </a:lnTo>
                  <a:lnTo>
                    <a:pt x="0" y="412652"/>
                  </a:lnTo>
                  <a:lnTo>
                    <a:pt x="5678" y="356329"/>
                  </a:lnTo>
                  <a:cubicBezTo>
                    <a:pt x="47291" y="152973"/>
                    <a:pt x="227220" y="0"/>
                    <a:pt x="442878" y="0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3</a:t>
              </a:r>
              <a:r>
                <a:rPr lang="en-US" altLang="zh-CN"/>
                <a:t> </a:t>
              </a:r>
              <a:r>
                <a:rPr lang="en-US" altLang="zh-CN" sz="12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dimensional</a:t>
              </a:r>
              <a:r>
                <a:rPr lang="en-US" altLang="zh-CN"/>
                <a:t> </a:t>
              </a:r>
              <a:r>
                <a:rPr lang="en-US" altLang="zh-CN" sz="12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substructure</a:t>
              </a:r>
              <a:endParaRPr lang="zh-CN" altLang="en-US" sz="120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pic>
        <p:nvPicPr>
          <p:cNvPr id="48" name="图片 47">
            <a:extLst>
              <a:ext uri="{FF2B5EF4-FFF2-40B4-BE49-F238E27FC236}">
                <a16:creationId xmlns:a16="http://schemas.microsoft.com/office/drawing/2014/main" id="{3A27AD29-F05E-5D1A-5F1B-59A4D2B90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026" y="3875063"/>
            <a:ext cx="2262652" cy="244954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150ABE2-3CEA-EADD-127E-1550D256B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825" y="1782266"/>
            <a:ext cx="2462614" cy="1641742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D4258D-63BF-3002-BF79-35285CE47D3B}"/>
              </a:ext>
            </a:extLst>
          </p:cNvPr>
          <p:cNvSpPr/>
          <p:nvPr/>
        </p:nvSpPr>
        <p:spPr>
          <a:xfrm>
            <a:off x="819254" y="2697814"/>
            <a:ext cx="480108" cy="19814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5E6F1DC-65BE-9917-E2B1-75706AC5B587}"/>
              </a:ext>
            </a:extLst>
          </p:cNvPr>
          <p:cNvSpPr/>
          <p:nvPr/>
        </p:nvSpPr>
        <p:spPr>
          <a:xfrm>
            <a:off x="5896681" y="1667580"/>
            <a:ext cx="1991727" cy="13691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pLDDT</a:t>
            </a:r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-aware Multi-scale information extraction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0986EB8-5BFC-7797-D562-3CC843E030A7}"/>
              </a:ext>
            </a:extLst>
          </p:cNvPr>
          <p:cNvSpPr/>
          <p:nvPr/>
        </p:nvSpPr>
        <p:spPr>
          <a:xfrm>
            <a:off x="967000" y="2906939"/>
            <a:ext cx="202976" cy="21081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5BBBBD8-8E35-B41A-6DFD-0EAE769DA678}"/>
              </a:ext>
            </a:extLst>
          </p:cNvPr>
          <p:cNvSpPr/>
          <p:nvPr/>
        </p:nvSpPr>
        <p:spPr>
          <a:xfrm>
            <a:off x="967000" y="3114023"/>
            <a:ext cx="202976" cy="21081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mbria" panose="02040503050406030204" pitchFamily="18" charset="0"/>
              </a:rPr>
              <a:t>I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6E2EE49-E41E-4B6D-471A-17983E379636}"/>
              </a:ext>
            </a:extLst>
          </p:cNvPr>
          <p:cNvSpPr/>
          <p:nvPr/>
        </p:nvSpPr>
        <p:spPr>
          <a:xfrm>
            <a:off x="967002" y="3323861"/>
            <a:ext cx="202976" cy="21081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72CD86-7164-E327-4218-E8E7694C8361}"/>
              </a:ext>
            </a:extLst>
          </p:cNvPr>
          <p:cNvSpPr txBox="1"/>
          <p:nvPr/>
        </p:nvSpPr>
        <p:spPr>
          <a:xfrm>
            <a:off x="851982" y="3577598"/>
            <a:ext cx="461665" cy="8281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······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D98C543-CACC-6989-B9A4-F180388ADDC2}"/>
              </a:ext>
            </a:extLst>
          </p:cNvPr>
          <p:cNvSpPr/>
          <p:nvPr/>
        </p:nvSpPr>
        <p:spPr>
          <a:xfrm>
            <a:off x="967002" y="3961595"/>
            <a:ext cx="202976" cy="21081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962F43D-56C3-D2EA-5138-C6C4367D00B9}"/>
              </a:ext>
            </a:extLst>
          </p:cNvPr>
          <p:cNvSpPr/>
          <p:nvPr/>
        </p:nvSpPr>
        <p:spPr>
          <a:xfrm>
            <a:off x="967000" y="4177709"/>
            <a:ext cx="202976" cy="21081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69B6E62-57D7-7535-0173-DC44398F819D}"/>
              </a:ext>
            </a:extLst>
          </p:cNvPr>
          <p:cNvSpPr/>
          <p:nvPr/>
        </p:nvSpPr>
        <p:spPr>
          <a:xfrm>
            <a:off x="967000" y="4388519"/>
            <a:ext cx="202976" cy="21081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FD0ADD-71FA-CBFA-FC88-E73E7D85AC15}"/>
              </a:ext>
            </a:extLst>
          </p:cNvPr>
          <p:cNvSpPr txBox="1"/>
          <p:nvPr/>
        </p:nvSpPr>
        <p:spPr>
          <a:xfrm>
            <a:off x="1048393" y="3534652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华文隶书" panose="02010800040101010101" pitchFamily="2" charset="-122"/>
                <a:ea typeface="华文隶书" panose="02010800040101010101" pitchFamily="2" charset="-122"/>
              </a:rPr>
              <a:t>sequence</a:t>
            </a:r>
            <a:endParaRPr lang="zh-CN" altLang="en-US" sz="14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736074D-DEE4-F85A-7BC8-D7AD8D2E31B2}"/>
              </a:ext>
            </a:extLst>
          </p:cNvPr>
          <p:cNvGrpSpPr/>
          <p:nvPr/>
        </p:nvGrpSpPr>
        <p:grpSpPr>
          <a:xfrm>
            <a:off x="1959074" y="2005581"/>
            <a:ext cx="1231792" cy="991322"/>
            <a:chOff x="1959074" y="2005581"/>
            <a:chExt cx="1231792" cy="991322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90F7AF5-ADBB-F662-A2D0-7A5420272928}"/>
                </a:ext>
              </a:extLst>
            </p:cNvPr>
            <p:cNvSpPr/>
            <p:nvPr/>
          </p:nvSpPr>
          <p:spPr>
            <a:xfrm>
              <a:off x="2097396" y="2005581"/>
              <a:ext cx="1093470" cy="7342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DD4979E-C4AD-0E0B-C520-F65D28975DBA}"/>
                </a:ext>
              </a:extLst>
            </p:cNvPr>
            <p:cNvSpPr/>
            <p:nvPr/>
          </p:nvSpPr>
          <p:spPr>
            <a:xfrm>
              <a:off x="2016481" y="2117377"/>
              <a:ext cx="1093470" cy="7342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F0F1A37-EFF8-52F1-01E0-5DDC6AF1FE45}"/>
                </a:ext>
              </a:extLst>
            </p:cNvPr>
            <p:cNvSpPr/>
            <p:nvPr/>
          </p:nvSpPr>
          <p:spPr>
            <a:xfrm>
              <a:off x="1959074" y="2262652"/>
              <a:ext cx="1093470" cy="73425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Structure model</a:t>
              </a:r>
              <a:endParaRPr lang="zh-CN" altLang="en-US" sz="1600" dirty="0">
                <a:solidFill>
                  <a:schemeClr val="tx1"/>
                </a:solidFill>
                <a:latin typeface="Cambria" panose="02040503050406030204" pitchFamily="18" charset="0"/>
              </a:endParaRPr>
            </a:p>
          </p:txBody>
        </p:sp>
      </p:grp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649D6BE-5B06-8BE1-638B-59E7C71CA857}"/>
              </a:ext>
            </a:extLst>
          </p:cNvPr>
          <p:cNvSpPr/>
          <p:nvPr/>
        </p:nvSpPr>
        <p:spPr>
          <a:xfrm>
            <a:off x="1875592" y="4091763"/>
            <a:ext cx="1375294" cy="17193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97D60F9-52C3-6DC2-5F64-FD046F5AC435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250886" y="4951440"/>
            <a:ext cx="2994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8B24FC6E-A239-338E-A0E6-4F1A47949097}"/>
              </a:ext>
            </a:extLst>
          </p:cNvPr>
          <p:cNvSpPr/>
          <p:nvPr/>
        </p:nvSpPr>
        <p:spPr>
          <a:xfrm>
            <a:off x="4063182" y="2174133"/>
            <a:ext cx="144178" cy="144178"/>
          </a:xfrm>
          <a:prstGeom prst="ellipse">
            <a:avLst/>
          </a:prstGeom>
          <a:solidFill>
            <a:schemeClr val="bg2">
              <a:alpha val="2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548235D0-E99F-6AA8-B815-37284D691579}"/>
              </a:ext>
            </a:extLst>
          </p:cNvPr>
          <p:cNvSpPr/>
          <p:nvPr/>
        </p:nvSpPr>
        <p:spPr>
          <a:xfrm>
            <a:off x="4456514" y="2504832"/>
            <a:ext cx="251437" cy="251437"/>
          </a:xfrm>
          <a:prstGeom prst="ellipse">
            <a:avLst/>
          </a:prstGeom>
          <a:solidFill>
            <a:schemeClr val="bg2">
              <a:alpha val="2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9813AF74-0FDF-6E1B-A895-7FD9104933DD}"/>
              </a:ext>
            </a:extLst>
          </p:cNvPr>
          <p:cNvSpPr/>
          <p:nvPr/>
        </p:nvSpPr>
        <p:spPr>
          <a:xfrm>
            <a:off x="4751164" y="2184615"/>
            <a:ext cx="611580" cy="611580"/>
          </a:xfrm>
          <a:prstGeom prst="ellipse">
            <a:avLst/>
          </a:prstGeom>
          <a:solidFill>
            <a:schemeClr val="bg2">
              <a:alpha val="2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05AE698-35D2-B791-F1C7-842C2B196277}"/>
              </a:ext>
            </a:extLst>
          </p:cNvPr>
          <p:cNvCxnSpPr>
            <a:cxnSpLocks/>
          </p:cNvCxnSpPr>
          <p:nvPr/>
        </p:nvCxnSpPr>
        <p:spPr>
          <a:xfrm flipV="1">
            <a:off x="4158717" y="2174133"/>
            <a:ext cx="1585564" cy="54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71703C14-ECF0-FB74-B8E9-9647E29F3B97}"/>
              </a:ext>
            </a:extLst>
          </p:cNvPr>
          <p:cNvCxnSpPr>
            <a:cxnSpLocks/>
          </p:cNvCxnSpPr>
          <p:nvPr/>
        </p:nvCxnSpPr>
        <p:spPr>
          <a:xfrm>
            <a:off x="4648168" y="2656580"/>
            <a:ext cx="1073510" cy="67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F05E15E-4446-5820-C211-FAE532379C44}"/>
              </a:ext>
            </a:extLst>
          </p:cNvPr>
          <p:cNvCxnSpPr>
            <a:cxnSpLocks/>
          </p:cNvCxnSpPr>
          <p:nvPr/>
        </p:nvCxnSpPr>
        <p:spPr>
          <a:xfrm>
            <a:off x="5339304" y="2461923"/>
            <a:ext cx="466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矩形: 圆角 1044">
            <a:extLst>
              <a:ext uri="{FF2B5EF4-FFF2-40B4-BE49-F238E27FC236}">
                <a16:creationId xmlns:a16="http://schemas.microsoft.com/office/drawing/2014/main" id="{8007C767-D89B-5BAE-E92B-CFADF013BA86}"/>
              </a:ext>
            </a:extLst>
          </p:cNvPr>
          <p:cNvSpPr/>
          <p:nvPr/>
        </p:nvSpPr>
        <p:spPr>
          <a:xfrm>
            <a:off x="8363531" y="3305604"/>
            <a:ext cx="1558290" cy="85825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Probability fusion</a:t>
            </a:r>
          </a:p>
        </p:txBody>
      </p:sp>
      <p:cxnSp>
        <p:nvCxnSpPr>
          <p:cNvPr id="1048" name="连接符: 肘形 1047">
            <a:extLst>
              <a:ext uri="{FF2B5EF4-FFF2-40B4-BE49-F238E27FC236}">
                <a16:creationId xmlns:a16="http://schemas.microsoft.com/office/drawing/2014/main" id="{E2957550-6453-5FAF-C095-BC5D0C369374}"/>
              </a:ext>
            </a:extLst>
          </p:cNvPr>
          <p:cNvCxnSpPr>
            <a:cxnSpLocks/>
            <a:stCxn id="58" idx="3"/>
            <a:endCxn id="1045" idx="0"/>
          </p:cNvCxnSpPr>
          <p:nvPr/>
        </p:nvCxnSpPr>
        <p:spPr>
          <a:xfrm>
            <a:off x="7888408" y="2352170"/>
            <a:ext cx="1254268" cy="9534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7" name="箭头: 右 1076">
            <a:extLst>
              <a:ext uri="{FF2B5EF4-FFF2-40B4-BE49-F238E27FC236}">
                <a16:creationId xmlns:a16="http://schemas.microsoft.com/office/drawing/2014/main" id="{AD25ADFB-0A09-1044-2B9F-A618DC97F13A}"/>
              </a:ext>
            </a:extLst>
          </p:cNvPr>
          <p:cNvSpPr/>
          <p:nvPr/>
        </p:nvSpPr>
        <p:spPr>
          <a:xfrm>
            <a:off x="10019006" y="3672071"/>
            <a:ext cx="365760" cy="125317"/>
          </a:xfrm>
          <a:prstGeom prst="rightArrow">
            <a:avLst/>
          </a:prstGeom>
          <a:gradFill flip="none" rotWithShape="1">
            <a:gsLst>
              <a:gs pos="46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7000"/>
                </a:schemeClr>
              </a:gs>
              <a:gs pos="16000">
                <a:schemeClr val="accent1">
                  <a:lumMod val="97000"/>
                  <a:lumOff val="3000"/>
                </a:schemeClr>
              </a:gs>
              <a:gs pos="61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: 圆角 1077">
            <a:extLst>
              <a:ext uri="{FF2B5EF4-FFF2-40B4-BE49-F238E27FC236}">
                <a16:creationId xmlns:a16="http://schemas.microsoft.com/office/drawing/2014/main" id="{022E3DED-A6C3-2050-DABD-851EDCF2BD92}"/>
              </a:ext>
            </a:extLst>
          </p:cNvPr>
          <p:cNvSpPr/>
          <p:nvPr/>
        </p:nvSpPr>
        <p:spPr>
          <a:xfrm>
            <a:off x="10481951" y="1704975"/>
            <a:ext cx="966285" cy="41143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Peptide toxicity prediction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4C861B6-4351-8E8B-E048-1618ED1148BE}"/>
              </a:ext>
            </a:extLst>
          </p:cNvPr>
          <p:cNvSpPr/>
          <p:nvPr/>
        </p:nvSpPr>
        <p:spPr>
          <a:xfrm>
            <a:off x="6094227" y="4490900"/>
            <a:ext cx="1748706" cy="8897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3-seed ensemble</a:t>
            </a: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Seed:42/123/2025</a:t>
            </a:r>
            <a:endParaRPr lang="zh-CN" altLang="en-US" sz="140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BD74BC5-0C34-C54D-9B99-DE54BA962F62}"/>
              </a:ext>
            </a:extLst>
          </p:cNvPr>
          <p:cNvCxnSpPr>
            <a:cxnSpLocks/>
            <a:stCxn id="43" idx="3"/>
            <a:endCxn id="28" idx="1"/>
          </p:cNvCxnSpPr>
          <p:nvPr/>
        </p:nvCxnSpPr>
        <p:spPr>
          <a:xfrm>
            <a:off x="5721677" y="4935800"/>
            <a:ext cx="372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F3C42501-4A54-1700-2345-A399F8869563}"/>
              </a:ext>
            </a:extLst>
          </p:cNvPr>
          <p:cNvCxnSpPr>
            <a:cxnSpLocks/>
            <a:stCxn id="28" idx="3"/>
            <a:endCxn id="1045" idx="2"/>
          </p:cNvCxnSpPr>
          <p:nvPr/>
        </p:nvCxnSpPr>
        <p:spPr>
          <a:xfrm flipV="1">
            <a:off x="7842933" y="4163857"/>
            <a:ext cx="1299743" cy="7719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toShape 2" descr="多肽生物图 透明背景 的图像结果">
            <a:extLst>
              <a:ext uri="{FF2B5EF4-FFF2-40B4-BE49-F238E27FC236}">
                <a16:creationId xmlns:a16="http://schemas.microsoft.com/office/drawing/2014/main" id="{0E926FCC-F9FD-BE0F-9124-833ACB87B7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4413" y="2571750"/>
            <a:ext cx="25431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AutoShape 4" descr="多肽生物图 透明背景 的图像结果">
            <a:extLst>
              <a:ext uri="{FF2B5EF4-FFF2-40B4-BE49-F238E27FC236}">
                <a16:creationId xmlns:a16="http://schemas.microsoft.com/office/drawing/2014/main" id="{B68BEC1F-C53C-E64B-458A-3518095FBB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76813" y="2724150"/>
            <a:ext cx="25431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F390851-9CA8-5E99-96FD-C23EB5E34819}"/>
              </a:ext>
            </a:extLst>
          </p:cNvPr>
          <p:cNvCxnSpPr>
            <a:cxnSpLocks/>
          </p:cNvCxnSpPr>
          <p:nvPr/>
        </p:nvCxnSpPr>
        <p:spPr>
          <a:xfrm>
            <a:off x="3197825" y="2504832"/>
            <a:ext cx="224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文本框 1028">
            <a:extLst>
              <a:ext uri="{FF2B5EF4-FFF2-40B4-BE49-F238E27FC236}">
                <a16:creationId xmlns:a16="http://schemas.microsoft.com/office/drawing/2014/main" id="{C71E738E-300E-BC73-AFB9-CEAC58F4C29A}"/>
              </a:ext>
            </a:extLst>
          </p:cNvPr>
          <p:cNvSpPr txBox="1"/>
          <p:nvPr/>
        </p:nvSpPr>
        <p:spPr>
          <a:xfrm>
            <a:off x="3682711" y="4104242"/>
            <a:ext cx="1930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Cambria" panose="02040503050406030204" pitchFamily="18" charset="0"/>
                <a:ea typeface="Cambria" panose="02040503050406030204" pitchFamily="18" charset="0"/>
              </a:rPr>
              <a:t>Bidirectional Mammba</a:t>
            </a:r>
            <a:endParaRPr lang="zh-CN" altLang="en-US" sz="1400">
              <a:latin typeface="Cambria" panose="02040503050406030204" pitchFamily="18" charset="0"/>
            </a:endParaRPr>
          </a:p>
        </p:txBody>
      </p:sp>
      <p:sp>
        <p:nvSpPr>
          <p:cNvPr id="1030" name="矩形: 圆角 1029">
            <a:extLst>
              <a:ext uri="{FF2B5EF4-FFF2-40B4-BE49-F238E27FC236}">
                <a16:creationId xmlns:a16="http://schemas.microsoft.com/office/drawing/2014/main" id="{B138A3C1-E46A-0D9B-AAC1-797DF31E465B}"/>
              </a:ext>
            </a:extLst>
          </p:cNvPr>
          <p:cNvSpPr/>
          <p:nvPr/>
        </p:nvSpPr>
        <p:spPr>
          <a:xfrm>
            <a:off x="2737769" y="3174104"/>
            <a:ext cx="975947" cy="348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pLDDT</a:t>
            </a:r>
            <a:endParaRPr lang="zh-CN" altLang="en-US" sz="160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32" name="连接符: 肘形 1031">
            <a:extLst>
              <a:ext uri="{FF2B5EF4-FFF2-40B4-BE49-F238E27FC236}">
                <a16:creationId xmlns:a16="http://schemas.microsoft.com/office/drawing/2014/main" id="{E720490D-CAE8-DCEE-5D9A-AECBF61B3EEA}"/>
              </a:ext>
            </a:extLst>
          </p:cNvPr>
          <p:cNvCxnSpPr>
            <a:stCxn id="24" idx="2"/>
            <a:endCxn id="1030" idx="1"/>
          </p:cNvCxnSpPr>
          <p:nvPr/>
        </p:nvCxnSpPr>
        <p:spPr>
          <a:xfrm rot="16200000" flipH="1">
            <a:off x="2445994" y="3056718"/>
            <a:ext cx="351590" cy="2319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D8C280BD-0FAC-F855-18A1-2FBFB24AEDB6}"/>
              </a:ext>
            </a:extLst>
          </p:cNvPr>
          <p:cNvCxnSpPr>
            <a:cxnSpLocks/>
            <a:stCxn id="1030" idx="3"/>
            <a:endCxn id="58" idx="2"/>
          </p:cNvCxnSpPr>
          <p:nvPr/>
        </p:nvCxnSpPr>
        <p:spPr>
          <a:xfrm flipV="1">
            <a:off x="3713716" y="3036760"/>
            <a:ext cx="3178829" cy="3117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文本框 1059">
            <a:extLst>
              <a:ext uri="{FF2B5EF4-FFF2-40B4-BE49-F238E27FC236}">
                <a16:creationId xmlns:a16="http://schemas.microsoft.com/office/drawing/2014/main" id="{0F7482FF-65E1-BBDB-8AC5-BCC61A590E27}"/>
              </a:ext>
            </a:extLst>
          </p:cNvPr>
          <p:cNvSpPr txBox="1"/>
          <p:nvPr/>
        </p:nvSpPr>
        <p:spPr>
          <a:xfrm>
            <a:off x="1952734" y="4119631"/>
            <a:ext cx="1172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Cambria" panose="02040503050406030204" pitchFamily="18" charset="0"/>
                <a:ea typeface="Cambria" panose="02040503050406030204" pitchFamily="18" charset="0"/>
              </a:rPr>
              <a:t>ProT5+LoRA</a:t>
            </a:r>
            <a:endParaRPr lang="zh-CN" altLang="en-US" sz="1400">
              <a:latin typeface="Cambria" panose="02040503050406030204" pitchFamily="18" charset="0"/>
            </a:endParaRPr>
          </a:p>
          <a:p>
            <a:endParaRPr lang="zh-CN" altLang="en-US"/>
          </a:p>
        </p:txBody>
      </p:sp>
      <p:pic>
        <p:nvPicPr>
          <p:cNvPr id="1064" name="图片 1063">
            <a:extLst>
              <a:ext uri="{FF2B5EF4-FFF2-40B4-BE49-F238E27FC236}">
                <a16:creationId xmlns:a16="http://schemas.microsoft.com/office/drawing/2014/main" id="{619F3FFB-3B82-2705-59E4-BFD45EB23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93" y="4448648"/>
            <a:ext cx="1749561" cy="1166374"/>
          </a:xfrm>
          <a:prstGeom prst="rect">
            <a:avLst/>
          </a:prstGeom>
        </p:spPr>
      </p:pic>
      <p:cxnSp>
        <p:nvCxnSpPr>
          <p:cNvPr id="1066" name="连接符: 肘形 1065">
            <a:extLst>
              <a:ext uri="{FF2B5EF4-FFF2-40B4-BE49-F238E27FC236}">
                <a16:creationId xmlns:a16="http://schemas.microsoft.com/office/drawing/2014/main" id="{D9E4CFF4-2750-4AFF-9922-614CED910AB5}"/>
              </a:ext>
            </a:extLst>
          </p:cNvPr>
          <p:cNvCxnSpPr>
            <a:cxnSpLocks/>
            <a:stCxn id="12" idx="0"/>
            <a:endCxn id="2" idx="1"/>
          </p:cNvCxnSpPr>
          <p:nvPr/>
        </p:nvCxnSpPr>
        <p:spPr>
          <a:xfrm rot="5400000" flipH="1" flipV="1">
            <a:off x="1240132" y="2307788"/>
            <a:ext cx="209202" cy="5708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连接符: 肘形 1068">
            <a:extLst>
              <a:ext uri="{FF2B5EF4-FFF2-40B4-BE49-F238E27FC236}">
                <a16:creationId xmlns:a16="http://schemas.microsoft.com/office/drawing/2014/main" id="{AA52181B-C476-2344-D1E6-915DB2449A8D}"/>
              </a:ext>
            </a:extLst>
          </p:cNvPr>
          <p:cNvCxnSpPr>
            <a:stCxn id="12" idx="2"/>
            <a:endCxn id="40" idx="1"/>
          </p:cNvCxnSpPr>
          <p:nvPr/>
        </p:nvCxnSpPr>
        <p:spPr>
          <a:xfrm rot="16200000" flipH="1">
            <a:off x="1203998" y="4534575"/>
            <a:ext cx="242528" cy="5319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71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8FEAD71C-1C98-D624-BD24-621E1D25E704}"/>
              </a:ext>
            </a:extLst>
          </p:cNvPr>
          <p:cNvGrpSpPr/>
          <p:nvPr/>
        </p:nvGrpSpPr>
        <p:grpSpPr>
          <a:xfrm>
            <a:off x="1111142" y="907036"/>
            <a:ext cx="9869737" cy="2521964"/>
            <a:chOff x="1111142" y="907036"/>
            <a:chExt cx="9869737" cy="2521964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1AE0792-753A-AF14-B296-43A1BADF90D9}"/>
                </a:ext>
              </a:extLst>
            </p:cNvPr>
            <p:cNvSpPr/>
            <p:nvPr/>
          </p:nvSpPr>
          <p:spPr>
            <a:xfrm>
              <a:off x="1161630" y="951914"/>
              <a:ext cx="9819249" cy="247708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0000">
                  <a:schemeClr val="accent2">
                    <a:lumMod val="45000"/>
                    <a:lumOff val="55000"/>
                  </a:schemeClr>
                </a:gs>
                <a:gs pos="86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rgbClr val="000000"/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638D1FCA-C869-0586-6002-D57A7FDBF1CC}"/>
                </a:ext>
              </a:extLst>
            </p:cNvPr>
            <p:cNvSpPr/>
            <p:nvPr/>
          </p:nvSpPr>
          <p:spPr>
            <a:xfrm>
              <a:off x="1111142" y="907036"/>
              <a:ext cx="3579183" cy="445477"/>
            </a:xfrm>
            <a:custGeom>
              <a:avLst/>
              <a:gdLst>
                <a:gd name="connsiteX0" fmla="*/ 442878 w 3579183"/>
                <a:gd name="connsiteY0" fmla="*/ 0 h 412652"/>
                <a:gd name="connsiteX1" fmla="*/ 3579183 w 3579183"/>
                <a:gd name="connsiteY1" fmla="*/ 0 h 412652"/>
                <a:gd name="connsiteX2" fmla="*/ 3476020 w 3579183"/>
                <a:gd name="connsiteY2" fmla="*/ 412652 h 412652"/>
                <a:gd name="connsiteX3" fmla="*/ 0 w 3579183"/>
                <a:gd name="connsiteY3" fmla="*/ 412652 h 412652"/>
                <a:gd name="connsiteX4" fmla="*/ 5678 w 3579183"/>
                <a:gd name="connsiteY4" fmla="*/ 356329 h 412652"/>
                <a:gd name="connsiteX5" fmla="*/ 442878 w 3579183"/>
                <a:gd name="connsiteY5" fmla="*/ 0 h 41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79183" h="412652">
                  <a:moveTo>
                    <a:pt x="442878" y="0"/>
                  </a:moveTo>
                  <a:lnTo>
                    <a:pt x="3579183" y="0"/>
                  </a:lnTo>
                  <a:lnTo>
                    <a:pt x="3476020" y="412652"/>
                  </a:lnTo>
                  <a:lnTo>
                    <a:pt x="0" y="412652"/>
                  </a:lnTo>
                  <a:lnTo>
                    <a:pt x="5678" y="356329"/>
                  </a:lnTo>
                  <a:cubicBezTo>
                    <a:pt x="47291" y="152973"/>
                    <a:pt x="227220" y="0"/>
                    <a:pt x="442878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065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36</Words>
  <Application>Microsoft Office PowerPoint</Application>
  <PresentationFormat>宽屏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华文隶书</vt:lpstr>
      <vt:lpstr>Arial</vt:lpstr>
      <vt:lpstr>Cambria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刘雨 许</dc:creator>
  <cp:lastModifiedBy>刘雨 许</cp:lastModifiedBy>
  <cp:revision>10</cp:revision>
  <dcterms:created xsi:type="dcterms:W3CDTF">2026-08-06T14:48:40Z</dcterms:created>
  <dcterms:modified xsi:type="dcterms:W3CDTF">2026-08-12T03:38:43Z</dcterms:modified>
</cp:coreProperties>
</file>